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3B82F6"/>
                </a:solidFill>
                <a:latin typeface="Calibri"/>
              </a:defRPr>
            </a:pPr>
            <a:r>
              <a:t>TASKFLOW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Enterprise-Grade Project Management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Calibri"/>
              </a:defRPr>
            </a:pPr>
            <a:r>
              <a:t>Frontend: React 19 + Redux + Vite + Axios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Calibri"/>
              </a:defRPr>
            </a:pPr>
            <a:r>
              <a:t>Backend: Node.js + Express.js + JWT Auth + Bcryptjs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Calibri"/>
              </a:defRPr>
            </a:pPr>
            <a:r>
              <a:t>Database: MongoDB (11 Collections) + Mongoose ODM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Calibri"/>
              </a:defRPr>
            </a:pPr>
            <a:r>
              <a:t>Email: Resend Integration for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✓ 11 DB Models  |  ✓ 40+ Endpoints  |  ✓ 10 Middleware functions  |  ✓ Multi-Tenant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B82F6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3-Tier Multi-Tenant Design</a:t>
            </a:r>
          </a:p>
        </p:txBody>
      </p:sp>
      <p:pic>
        <p:nvPicPr>
          <p:cNvPr id="5" name="Picture 4" descr="architectura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B82F6"/>
                </a:solidFill>
                <a:latin typeface="Calibri"/>
              </a:defRPr>
            </a:pPr>
            <a:r>
              <a:t>Data Model &amp;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11 MongoDB Collections with Multi-Tenant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Collections</a:t>
            </a:r>
          </a:p>
          <a:p>
            <a:pPr>
              <a:spcBef>
                <a:spcPts val="800"/>
              </a:spcBef>
              <a:defRPr sz="1200" b="1">
                <a:solidFill>
                  <a:srgbClr val="8B5CF6"/>
                </a:solidFill>
                <a:latin typeface="Calibri"/>
              </a:defRPr>
            </a:pPr>
            <a:r>
              <a:t>▸ Global Scope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Users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SubscriptionPlans</a:t>
            </a:r>
          </a:p>
          <a:p>
            <a:pPr>
              <a:spcBef>
                <a:spcPts val="800"/>
              </a:spcBef>
              <a:defRPr sz="1200" b="1">
                <a:solidFill>
                  <a:srgbClr val="8B5CF6"/>
                </a:solidFill>
                <a:latin typeface="Calibri"/>
              </a:defRPr>
            </a:pPr>
            <a:r>
              <a:t>▸ Workspace-Scoped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Workspaces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WorkspaceMembers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WorkspaceInvites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WorkspaceUsage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Subscriptions</a:t>
            </a:r>
          </a:p>
          <a:p>
            <a:pPr>
              <a:spcBef>
                <a:spcPts val="800"/>
              </a:spcBef>
              <a:defRPr sz="1200" b="1">
                <a:solidFill>
                  <a:srgbClr val="8B5CF6"/>
                </a:solidFill>
                <a:latin typeface="Calibri"/>
              </a:defRPr>
            </a:pPr>
            <a:r>
              <a:t>▸ Domain Models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Projects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ProjectMembers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Tasks</a:t>
            </a:r>
          </a:p>
          <a:p>
            <a:pPr lvl="1">
              <a:defRPr sz="1000">
                <a:solidFill>
                  <a:srgbClr val="1E293B"/>
                </a:solidFill>
                <a:latin typeface="Calibri"/>
              </a:defRPr>
            </a:pPr>
            <a:r>
              <a:t>Comments</a:t>
            </a:r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9728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B82F6"/>
                </a:solidFill>
                <a:latin typeface="Calibri"/>
              </a:defRPr>
            </a:pPr>
            <a:r>
              <a:t>Request Security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Multi-Layer Protection &amp; Validation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57645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1. JWT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Bearer token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Extracts userId, verifies signature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2. Subscription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Active plan check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Auto-downgrade if EXPIRED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3. Role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Admin/Member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Workspace permission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4. Feature Gate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Plan feature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Checks MAX_PROJECTS, MAX_TASKS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5. Usage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Real-time quota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Prevents over-limit creation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6. Multi-Tenant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Workspace isolation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All requests scoped to workspaceId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B82F6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Granular Permission System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8213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Permission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Create Workspace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Manage Members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Invite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Create Tasks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Edit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Delete Projects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Delete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View Analytics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Manage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Upgrade Plan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B82F6"/>
                </a:solidFill>
                <a:latin typeface="Calibri"/>
              </a:defRPr>
            </a:pPr>
            <a:r>
              <a:t>Subscription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Intelligent Plan Enforcement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097280"/>
          <a:ext cx="8229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6070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Tasks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Members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Advanced Analytics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Disabled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Enabled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B82F6"/>
                </a:solidFill>
                <a:latin typeface="Calibri"/>
              </a:defRPr>
            </a:pPr>
            <a:r>
              <a:t>Production-Ready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Enterprise-Grade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🔐 Security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JWT 7-day tokens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Bcryptjs hashing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Role-based access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Workspace scoping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Invite tokens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Subscription gates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Feature gating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Usage limits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Input validation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Request auth guard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Ownership checks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Session expiry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9728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📊 Data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11 collections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Mongoose ODM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Indexes on workspaceId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WorkspaceUsage tracking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Atomic updates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Model references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Soft deletes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Audit-ready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Schema validation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Relationship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🔌 API &amp; Routes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40+ endpoints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8 route modules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JWT middleware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Usage enforcement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Feature gating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Consistent errors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Pagination ready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RBAC checks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Rate limiting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Audit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097280"/>
            <a:ext cx="182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⚛️ Frontend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React 19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Redux state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Axios client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Auth context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Route protection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Responsive UI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Theme support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Reusable UI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Form validation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✓ Optimistic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Calibri"/>
              </a:defRPr>
            </a:pPr>
            <a:r>
              <a:t>Design Rationale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Why this design: 3-tier separation keeps UI, API, and data isolated for deployability and scaling.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Multi-tenant safety: every query is scoped by workspaceId to prevent cross-tenant access.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Consistency: centralized middleware standardizes auth, roles, features, and usage checks.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Race-condition proof: atomic usage increments prevent over-limit creation under concurrency.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Extensibility: plan-feature mapping allows premium features without schema changes.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Operational clarity: usage tracking and subscription states simplify audits and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